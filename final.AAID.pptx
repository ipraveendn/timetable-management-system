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notesMasterIdLst>
    <p:notesMasterId r:id="rId26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5F04438-0079-4AF2-B4CF-B68A9757EC9B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Talk about how they are managing their documents, how google docs does automatic versioning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As them what they know  about Android and IoS versions </a:t>
            </a:r>
          </a:p>
        </p:txBody>
      </p:sp>
      <p:sp>
        <p:nvSpPr>
          <p:cNvPr id="12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Talk about how they are managing their documents, how google docs does automatic versioning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As them what they know  about Android and IoS versions 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Talk about how they are managing their documents, how google docs does automatic versioning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As them what they know  about Android and IoS versions </a:t>
            </a:r>
          </a:p>
        </p:txBody>
      </p:sp>
      <p:sp>
        <p:nvSpPr>
          <p:cNvPr id="12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Only stress on the 1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st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– the definition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Come back to the 2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nd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in the end as part of revision</a:t>
            </a:r>
          </a:p>
        </p:txBody>
      </p:sp>
      <p:sp>
        <p:nvSpPr>
          <p:cNvPr id="13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Only stress on the 1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st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– the definition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Come back to the 2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nd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in the end as part of revision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Only stress on the 1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st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– the definition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Come back to the 2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nd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in the end as part of revision</a:t>
            </a:r>
          </a:p>
        </p:txBody>
      </p:sp>
      <p:sp>
        <p:nvSpPr>
          <p:cNvPr id="13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Only stress on the 1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st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– the definition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Come back to the 2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nd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in the end as part of revision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Only stress on the 1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st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– the definition</a:t>
            </a:r>
          </a:p>
          <a:p>
            <a:pPr marL="216000" indent="0">
              <a:lnSpc>
                <a:spcPct val="100000"/>
              </a:lnSpc>
              <a:buNone/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Come back to the 2</a:t>
            </a:r>
            <a:r>
              <a:rPr lang="en-IN" sz="2000" b="0" strike="noStrike" spc="-1" baseline="30000">
                <a:solidFill>
                  <a:srgbClr val="000000"/>
                </a:solidFill>
                <a:latin typeface="Arial"/>
              </a:rPr>
              <a:t>nd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sentence in the end as part of revision</a:t>
            </a:r>
          </a:p>
        </p:txBody>
      </p:sp>
      <p:sp>
        <p:nvSpPr>
          <p:cNvPr id="14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640011E-F56A-4176-B88B-DC7412AA7D7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F4809E1-6AA5-4F52-B508-86E09C383B3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C955BE2-D784-4D74-8D11-4D261CB00E9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7235AE-5517-486A-A441-BB09D9F9962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EAC52F6E-EB5E-4DBA-B843-1652939831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FC93A73F-9890-4E7F-867A-8236E1F28DA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E7F09E5B-4E07-4EE7-8AB3-4ED5A9EEC1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52704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9800" y="1774080"/>
            <a:ext cx="52704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7B46D450-FD29-4B2E-A6C9-07F457A33AB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C74937E8-38D9-41B9-A84F-C7A25244A2E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2AD39A3-3809-4D65-B43C-FBD95AA7D4A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7340B559-81C6-4783-BC5C-D6075A992C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6BF1AC82-E6DB-434C-9045-FB5F12A69B1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6;p2" descr="C:\Users\Admin\Downloads\ilovepdf_pages-to-jpg (1)\RU_PPT Template-White Blank_page-0001.jpg"/>
          <p:cNvPicPr/>
          <p:nvPr/>
        </p:nvPicPr>
        <p:blipFill>
          <a:blip r:embed="rId3"/>
          <a:stretch/>
        </p:blipFill>
        <p:spPr>
          <a:xfrm>
            <a:off x="0" y="0"/>
            <a:ext cx="12192840" cy="6857640"/>
          </a:xfrm>
          <a:prstGeom prst="rect">
            <a:avLst/>
          </a:prstGeom>
          <a:ln w="0">
            <a:noFill/>
          </a:ln>
        </p:spPr>
      </p:pic>
      <p:sp>
        <p:nvSpPr>
          <p:cNvPr id="12" name="Google Shape;17;p2"/>
          <p:cNvSpPr/>
          <p:nvPr/>
        </p:nvSpPr>
        <p:spPr>
          <a:xfrm>
            <a:off x="685800" y="588024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" name="Google Shape;18;p2"/>
          <p:cNvSpPr/>
          <p:nvPr/>
        </p:nvSpPr>
        <p:spPr>
          <a:xfrm>
            <a:off x="8769240" y="548640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3" name="Google Shape;19;p2"/>
          <p:cNvGrpSpPr/>
          <p:nvPr/>
        </p:nvGrpSpPr>
        <p:grpSpPr>
          <a:xfrm>
            <a:off x="9220320" y="5410080"/>
            <a:ext cx="2601360" cy="1082520"/>
            <a:chOff x="9220320" y="5410080"/>
            <a:chExt cx="2601360" cy="1082520"/>
          </a:xfrm>
        </p:grpSpPr>
        <p:pic>
          <p:nvPicPr>
            <p:cNvPr id="4" name="Google Shape;20;p2" descr="NIRF — SAVEETHA SCHOOL OF MANAGEMENT"/>
            <p:cNvPicPr/>
            <p:nvPr/>
          </p:nvPicPr>
          <p:blipFill>
            <a:blip r:embed="rId4"/>
            <a:srcRect l="27515" t="4365" r="28911" b="7119"/>
            <a:stretch/>
          </p:blipFill>
          <p:spPr>
            <a:xfrm>
              <a:off x="10302840" y="5410080"/>
              <a:ext cx="605880" cy="474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" name="Google Shape;21;p2" descr="Bharath University - Top University In India"/>
            <p:cNvPicPr/>
            <p:nvPr/>
          </p:nvPicPr>
          <p:blipFill>
            <a:blip r:embed="rId5"/>
            <a:stretch/>
          </p:blipFill>
          <p:spPr>
            <a:xfrm>
              <a:off x="9307800" y="5478480"/>
              <a:ext cx="831960" cy="345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22;p2" descr="CREDISAPP for Ratings - Eloit"/>
            <p:cNvPicPr/>
            <p:nvPr/>
          </p:nvPicPr>
          <p:blipFill>
            <a:blip r:embed="rId6"/>
            <a:stretch/>
          </p:blipFill>
          <p:spPr>
            <a:xfrm>
              <a:off x="10985760" y="5423400"/>
              <a:ext cx="829800" cy="461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" name="Google Shape;23;p2" descr="MHRD | Innovation Cell - Home"/>
            <p:cNvPicPr/>
            <p:nvPr/>
          </p:nvPicPr>
          <p:blipFill>
            <a:blip r:embed="rId7"/>
            <a:stretch/>
          </p:blipFill>
          <p:spPr>
            <a:xfrm>
              <a:off x="9220320" y="5965200"/>
              <a:ext cx="1334880" cy="52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Google Shape;24;p2" descr="Institution's Innovation Council | MHRD"/>
            <p:cNvPicPr/>
            <p:nvPr/>
          </p:nvPicPr>
          <p:blipFill>
            <a:blip r:embed="rId8"/>
            <a:srcRect l="8882" t="20708" r="8882" b="24340"/>
            <a:stretch/>
          </p:blipFill>
          <p:spPr>
            <a:xfrm>
              <a:off x="10851840" y="5952600"/>
              <a:ext cx="969840" cy="511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58400" y="3124080"/>
            <a:ext cx="8421480" cy="174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en-US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046520" y="5129640"/>
            <a:ext cx="6755400" cy="4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Calibri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Calibri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Calibri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371600" lvl="2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828800" lvl="3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0" lvl="4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28;p3" descr="C:\Users\Admin\Downloads\ilovepdf_pages-to-jpg (3)\RU_PPT Template-White Blank (1)_page-0003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69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sldNum" idx="13"/>
          </p:nvPr>
        </p:nvSpPr>
        <p:spPr>
          <a:xfrm>
            <a:off x="11367000" y="6095880"/>
            <a:ext cx="595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7485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33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33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3" name="PlaceHolder 6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4" name="PlaceHolder 7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8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865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6;p15"/>
          <p:cNvSpPr/>
          <p:nvPr/>
        </p:nvSpPr>
        <p:spPr>
          <a:xfrm>
            <a:off x="2086920" y="4163760"/>
            <a:ext cx="8804160" cy="10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Arial"/>
              </a:rPr>
              <a:t>Smart Timetable management and teacher replacement system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07;p15"/>
          <p:cNvSpPr/>
          <p:nvPr/>
        </p:nvSpPr>
        <p:spPr>
          <a:xfrm>
            <a:off x="1569960" y="2804760"/>
            <a:ext cx="98384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School of Computer Science &amp; Engineering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AI Application Development</a:t>
            </a:r>
            <a:endParaRPr lang="en-IN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9376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Team members &amp; roles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89" name="Table 7"/>
          <p:cNvGraphicFramePr/>
          <p:nvPr/>
        </p:nvGraphicFramePr>
        <p:xfrm>
          <a:off x="1251000" y="1753920"/>
          <a:ext cx="9692640" cy="33426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960">
                <a:tc>
                  <a:txBody>
                    <a:bodyPr/>
                    <a:lstStyle/>
                    <a:p>
                      <a:pPr>
                        <a:lnSpc>
                          <a:spcPts val="2174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Team members</a:t>
                      </a:r>
                      <a:endParaRPr lang="en-IN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230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74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lang="en-IN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230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Praveen D N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230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Team Lead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230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Mounish M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 Contact Lead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Praveen D N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Development Lead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 Rushikesh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 Lead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Manik Prabhu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Developer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 Sai Kiran, Sathishkumar V, Bille Arun Kumar 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DevOps / GitHub / Product Build / Documents</a:t>
                      </a:r>
                      <a:endParaRPr lang="en-IN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3040" y="538920"/>
            <a:ext cx="7937640" cy="11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Calibri"/>
              </a:rPr>
              <a:t>Smart Timetable </a:t>
            </a:r>
            <a:r>
              <a:rPr lang="en-IN" sz="3200" b="1" strike="noStrike" spc="-1">
                <a:solidFill>
                  <a:srgbClr val="000000"/>
                </a:solidFill>
                <a:latin typeface="Times New Roman"/>
                <a:ea typeface="Calibri"/>
              </a:rPr>
              <a:t>M</a:t>
            </a: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Calibri"/>
              </a:rPr>
              <a:t>anagement and Teacher Replacement </a:t>
            </a:r>
            <a:r>
              <a:rPr lang="en-IN" sz="3200" b="1" strike="noStrike" spc="-1">
                <a:solidFill>
                  <a:srgbClr val="000000"/>
                </a:solidFill>
                <a:latin typeface="Times New Roman"/>
                <a:ea typeface="Calibri"/>
              </a:rPr>
              <a:t>S</a:t>
            </a: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Calibri"/>
              </a:rPr>
              <a:t>ystem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9160" y="1650240"/>
            <a:ext cx="10519560" cy="379008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lstStyle/>
          <a:p>
            <a:pPr marL="41904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In most educational institutions, timetable creation is done manually, which takes significant time and effort</a:t>
            </a:r>
            <a:r>
              <a:rPr lang="en-IN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1904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Managing teacher availability and handling last-minute absences is difficult, often leading to confusion and class disruptions.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1904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There is no proper system to assign substitute teachers based on subject expertise and availability.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1904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We interacted with lecturers to understand real challenges faced in timetable management and teacher substitution.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1904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Substitute teachers may not match the subject expertise.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 algn="just">
              <a:lnSpc>
                <a:spcPct val="9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59800" y="194400"/>
            <a:ext cx="8142120" cy="78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</a:rPr>
              <a:t> U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</a:rPr>
              <a:t>ser/ Customer</a:t>
            </a:r>
            <a:r>
              <a:rPr lang="en-IN" sz="2800" b="1" strike="noStrike" spc="-1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</a:rPr>
              <a:t>Understanding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76600" y="2533320"/>
            <a:ext cx="2832840" cy="344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26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26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26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" name="Group 50"/>
          <p:cNvGrpSpPr/>
          <p:nvPr/>
        </p:nvGrpSpPr>
        <p:grpSpPr>
          <a:xfrm>
            <a:off x="0" y="6737760"/>
            <a:ext cx="12191760" cy="123120"/>
            <a:chOff x="0" y="6737760"/>
            <a:chExt cx="12191760" cy="123120"/>
          </a:xfrm>
        </p:grpSpPr>
        <p:sp>
          <p:nvSpPr>
            <p:cNvPr id="95" name="Rectangle 45"/>
            <p:cNvSpPr/>
            <p:nvPr/>
          </p:nvSpPr>
          <p:spPr>
            <a:xfrm rot="16200000">
              <a:off x="6034320" y="703440"/>
              <a:ext cx="123120" cy="12191760"/>
            </a:xfrm>
            <a:prstGeom prst="rect">
              <a:avLst/>
            </a:prstGeom>
            <a:gradFill rotWithShape="0">
              <a:gsLst>
                <a:gs pos="0">
                  <a:srgbClr val="ED7D31"/>
                </a:gs>
                <a:gs pos="100000">
                  <a:srgbClr val="5B9BD5"/>
                </a:gs>
              </a:gsLst>
              <a:lin ang="18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96" name="Rectangle 51"/>
            <p:cNvSpPr/>
            <p:nvPr/>
          </p:nvSpPr>
          <p:spPr>
            <a:xfrm rot="16200000">
              <a:off x="10240560" y="4909680"/>
              <a:ext cx="123120" cy="3779280"/>
            </a:xfrm>
            <a:prstGeom prst="rect">
              <a:avLst/>
            </a:prstGeom>
            <a:gradFill rotWithShape="0">
              <a:gsLst>
                <a:gs pos="19000">
                  <a:srgbClr val="5B9BD5">
                    <a:alpha val="0"/>
                  </a:srgbClr>
                </a:gs>
                <a:gs pos="100000">
                  <a:srgbClr val="9DC3E6"/>
                </a:gs>
              </a:gsLst>
              <a:lin ang="16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Arial"/>
              </a:endParaRPr>
            </a:p>
          </p:txBody>
        </p:sp>
      </p:grpSp>
      <p:sp>
        <p:nvSpPr>
          <p:cNvPr id="97" name="TextBox 12"/>
          <p:cNvSpPr/>
          <p:nvPr/>
        </p:nvSpPr>
        <p:spPr>
          <a:xfrm>
            <a:off x="559800" y="1166400"/>
            <a:ext cx="11026800" cy="457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1: How do you currently create the timetable?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  Timetable is created manually using Excel or paper, which takes a lot of time and effort.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2: What challenges do you face during timetable creation?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   It is difficult to manage multiple subjects, teachers, and constraints, which often leads to conflicts.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3: What happens when a teacher is absent?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  We manually try to find a substitute teacher, which takes time and may not always be effective.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4: How do you assign substitute teachers?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 Usually based on availability at that moment, not necessarily based on subject expertise.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5: What problems occur during teacher replacement?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  Replacement teachers may not match the subject, causing quality issues and confusion.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6: What kind of solution would you prefer?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Arial"/>
              </a:rPr>
              <a:t>   An automated system that can generate timetables and assign substitute teachers efficiently.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U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ser/ Customer</a:t>
            </a:r>
            <a:r>
              <a:rPr lang="en-IN" sz="28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 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Understanding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9" name="Picture 3" descr="A paper with text on it&#10;&#10;AI-generated content may be incorrect."/>
          <p:cNvPicPr/>
          <p:nvPr/>
        </p:nvPicPr>
        <p:blipFill>
          <a:blip r:embed="rId2"/>
          <a:stretch/>
        </p:blipFill>
        <p:spPr>
          <a:xfrm>
            <a:off x="2478240" y="1234440"/>
            <a:ext cx="3234240" cy="424512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4" descr="A document with signature and text&#10;&#10;AI-generated content may be incorrect."/>
          <p:cNvPicPr/>
          <p:nvPr/>
        </p:nvPicPr>
        <p:blipFill>
          <a:blip r:embed="rId3"/>
          <a:stretch/>
        </p:blipFill>
        <p:spPr>
          <a:xfrm>
            <a:off x="6588000" y="1233720"/>
            <a:ext cx="3422160" cy="4209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Ideal Customer Profile (ICP)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95520" y="1185120"/>
            <a:ext cx="6616440" cy="43200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63713" lnSpcReduction="20000"/>
          </a:bodyPr>
          <a:lstStyle/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Demographics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Educational Institutions (Schools, Colleges, Universities)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Admin Staff / Timetable Coordinators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Faculty Members (Teachers, Professors)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Medium to Large Institutions (multiple departments)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Institutions using digital systems (basic or advanced)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Psychographics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Prefer automation over manual work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Face frequent timetable conflicts and scheduling issues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Need quick solutions for teacher absence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Want efficient resource (faculty) management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Clr>
                <a:srgbClr val="7F7F7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Open to adopting smart/digital systems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3" descr="Image attachment"/>
          <p:cNvPicPr/>
          <p:nvPr/>
        </p:nvPicPr>
        <p:blipFill>
          <a:blip r:embed="rId3"/>
          <a:srcRect l="5130" t="3809" r="3989" b="13856"/>
          <a:stretch/>
        </p:blipFill>
        <p:spPr>
          <a:xfrm>
            <a:off x="7044480" y="1512000"/>
            <a:ext cx="5195520" cy="3666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Customer Persona (CP)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7866000" cy="43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Name : </a:t>
            </a:r>
            <a:r>
              <a:rPr lang="en-US" sz="2000" spc="-1" dirty="0">
                <a:solidFill>
                  <a:schemeClr val="dk1"/>
                </a:solidFill>
                <a:latin typeface="Times New Roman"/>
                <a:ea typeface="Roboto Medium"/>
              </a:rPr>
              <a:t>Mrs. Deekshitha Gowda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Age : </a:t>
            </a:r>
            <a:r>
              <a:rPr lang="en-US" sz="2000" spc="-1" dirty="0">
                <a:solidFill>
                  <a:schemeClr val="dk1"/>
                </a:solidFill>
                <a:latin typeface="Times New Roman"/>
                <a:ea typeface="Roboto Medium"/>
              </a:rPr>
              <a:t>28</a:t>
            </a: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 years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Education : </a:t>
            </a:r>
            <a:r>
              <a:rPr lang="en-US" sz="2000" b="0" strike="noStrike" spc="-1" dirty="0" err="1">
                <a:solidFill>
                  <a:schemeClr val="dk1"/>
                </a:solidFill>
                <a:latin typeface="Times New Roman"/>
                <a:ea typeface="Roboto Medium"/>
              </a:rPr>
              <a:t>M.Tech</a:t>
            </a: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Locality : Urban / Semi Urban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Hobbies &amp; Interests : Reading, Administration work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Lifestyle : Busy, Responsible, Time-bound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Device habits : Uses laptop/desktop more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15000"/>
              </a:lnSpc>
              <a:buClr>
                <a:srgbClr val="7F7F7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What influences the person : Efficiency, accuracy, time-saving solutions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077B9B-DB23-1DEA-0670-6460C7B3E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94" y="1233360"/>
            <a:ext cx="2925174" cy="312228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0" strike="noStrike" spc="-1" dirty="0">
                <a:solidFill>
                  <a:schemeClr val="dk1"/>
                </a:solidFill>
                <a:latin typeface="Roboto Medium"/>
                <a:ea typeface="Calibri"/>
              </a:rPr>
              <a:t> </a:t>
            </a: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Product USP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95520" y="1670472"/>
            <a:ext cx="11003400" cy="4305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Autofit/>
          </a:bodyPr>
          <a:lstStyle/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Fully automates timetable generation and teacher replacement, reducing manual effort and errors.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Intelligently assigns substitute teachers based on subject expertise and availability.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Adapts to different institutional data formats, making it flexible and scalable.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Handles real-time changes and provides instant notifications, ensuring smooth academic operations.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Integrated notification system for instant communication and faster response.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Centralized platform for managing scheduling and substitutions across departments.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• Handles real-time changes like sudden teacher absence without disrupting academic flow.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0" strike="noStrike" spc="-1">
                <a:solidFill>
                  <a:schemeClr val="dk1"/>
                </a:solidFill>
                <a:latin typeface="Roboto Medium"/>
                <a:ea typeface="Calibri"/>
              </a:rPr>
              <a:t> 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Use Cases &amp; High level Requirements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95520" y="1044000"/>
            <a:ext cx="5658840" cy="484416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Use Case 1: Timetable Generation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Input: Subjects, teacher data, availability, constraints</a:t>
            </a:r>
            <a:r>
              <a:rPr lang="en-IN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Output: Automatically generated conflict-free timetable</a:t>
            </a:r>
            <a:r>
              <a:rPr lang="en-IN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Use Case 2: Teacher Replacement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Input: Teacher marked absent</a:t>
            </a:r>
            <a:r>
              <a:rPr lang="en-IN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Output: Substitute teacher assigned based on subject and availability.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   Use Case 3: Late Arrival Handling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   Input: Teacher marked late</a:t>
            </a:r>
            <a:r>
              <a:rPr lang="en-IN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76320" indent="0" algn="just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   Output: Temporary replacement assigned for that</a:t>
            </a:r>
          </a:p>
          <a:p>
            <a:pPr marL="76320" indent="0" algn="just">
              <a:lnSpc>
                <a:spcPct val="10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spc="-1" dirty="0">
                <a:solidFill>
                  <a:schemeClr val="dk1"/>
                </a:solidFill>
                <a:latin typeface="Times New Roman"/>
                <a:ea typeface="Roboto Medium"/>
              </a:rPr>
              <a:t>   </a:t>
            </a: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Roboto Medium"/>
              </a:rPr>
              <a:t>period.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0" strike="noStrike" spc="-1">
                <a:solidFill>
                  <a:schemeClr val="dk1"/>
                </a:solidFill>
                <a:latin typeface="Roboto Medium"/>
                <a:ea typeface="Calibri"/>
              </a:rPr>
              <a:t> </a:t>
            </a: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Use Cases &amp; High level Requirements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95520" y="14356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Use Case 4: Room Allocation Handling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Input: Room unavailable (placement/training usage)</a:t>
            </a:r>
            <a:r>
              <a:rPr lang="en-IN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Output: Updated classroom assignment with notification</a:t>
            </a:r>
            <a:r>
              <a:rPr lang="en-IN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Times New Roman"/>
                <a:ea typeface="Roboto Medium"/>
              </a:rPr>
              <a:t>Use Case 5: Workload Management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Input: Weekly teaching hours and faculty data</a:t>
            </a:r>
            <a:r>
              <a:rPr lang="en-IN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Output: Balanced workload distribution among teachers</a:t>
            </a:r>
            <a:r>
              <a:rPr lang="en-IN" sz="2000" b="0" strike="noStrike" spc="-1">
                <a:solidFill>
                  <a:schemeClr val="dk1"/>
                </a:solidFill>
                <a:latin typeface="Times New Roman"/>
                <a:ea typeface="Roboto Medium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70000"/>
              </a:lnSpc>
              <a:spcBef>
                <a:spcPts val="26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6320"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Calibri"/>
              </a:rPr>
              <a:t> Proof of Concept (PoC) / Prototype Demo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4" name="Picture 113"/>
          <p:cNvPicPr/>
          <p:nvPr/>
        </p:nvPicPr>
        <p:blipFill>
          <a:blip r:embed="rId3"/>
          <a:stretch/>
        </p:blipFill>
        <p:spPr>
          <a:xfrm>
            <a:off x="900000" y="1440000"/>
            <a:ext cx="10080000" cy="432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Box 4"/>
          <p:cNvSpPr/>
          <p:nvPr/>
        </p:nvSpPr>
        <p:spPr>
          <a:xfrm>
            <a:off x="2832840" y="2107080"/>
            <a:ext cx="6526080" cy="13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8000" b="0" strike="noStrike" spc="-1">
                <a:solidFill>
                  <a:srgbClr val="E57D22"/>
                </a:solidFill>
                <a:latin typeface="Copperplate Gothic Bold"/>
              </a:rPr>
              <a:t>Thank you</a:t>
            </a:r>
            <a:endParaRPr lang="en-IN" sz="8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885</Words>
  <Application>Microsoft Office PowerPoint</Application>
  <PresentationFormat>Widescreen</PresentationFormat>
  <Paragraphs>130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12</vt:i4>
      </vt:variant>
    </vt:vector>
  </HeadingPairs>
  <TitlesOfParts>
    <vt:vector size="32" baseType="lpstr">
      <vt:lpstr>Arial</vt:lpstr>
      <vt:lpstr>Calibri</vt:lpstr>
      <vt:lpstr>Copperplate Gothic Bold</vt:lpstr>
      <vt:lpstr>Roboto Medium</vt:lpstr>
      <vt:lpstr>Symbol</vt:lpstr>
      <vt:lpstr>Times New Roman</vt:lpstr>
      <vt:lpstr>Wingdings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PowerPoint Presentation</vt:lpstr>
      <vt:lpstr>Team members &amp; roles</vt:lpstr>
      <vt:lpstr>Smart Timetable Management and Teacher Replacement System </vt:lpstr>
      <vt:lpstr> User/ Customer Understanding</vt:lpstr>
      <vt:lpstr>User/ Customer Understanding</vt:lpstr>
      <vt:lpstr>Ideal Customer Profile (ICP)</vt:lpstr>
      <vt:lpstr>Customer Persona (CP)</vt:lpstr>
      <vt:lpstr> Product USP</vt:lpstr>
      <vt:lpstr> Use Cases &amp; High level Requirements</vt:lpstr>
      <vt:lpstr> Use Cases &amp; High level Requirements</vt:lpstr>
      <vt:lpstr> Proof of Concept (PoC) / Prototype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Ramaraj Sri</dc:creator>
  <dc:description/>
  <cp:lastModifiedBy>Mounish Yadav</cp:lastModifiedBy>
  <cp:revision>310</cp:revision>
  <dcterms:created xsi:type="dcterms:W3CDTF">2025-09-17T04:00:00Z</dcterms:created>
  <dcterms:modified xsi:type="dcterms:W3CDTF">2026-03-27T15:42:19Z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BF5B0461B4F74D9FA0B751E13A698F56_13</vt:lpwstr>
  </property>
  <property fmtid="{D5CDD505-2E9C-101B-9397-08002B2CF9AE}" pid="3" name="KSOProductBuildVer">
    <vt:lpwstr>1033-12.2.0.23196</vt:lpwstr>
  </property>
  <property fmtid="{D5CDD505-2E9C-101B-9397-08002B2CF9AE}" pid="4" name="Notes">
    <vt:i4>9</vt:i4>
  </property>
  <property fmtid="{D5CDD505-2E9C-101B-9397-08002B2CF9AE}" pid="5" name="PresentationFormat">
    <vt:lpwstr>Widescreen</vt:lpwstr>
  </property>
  <property fmtid="{D5CDD505-2E9C-101B-9397-08002B2CF9AE}" pid="6" name="Slides">
    <vt:i4>12</vt:i4>
  </property>
</Properties>
</file>